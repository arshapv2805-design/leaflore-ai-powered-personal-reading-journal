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37160" cy="4114800"/>
          </a:xfrm>
          <a:prstGeom prst="rect">
            <a:avLst/>
          </a:prstGeom>
          <a:solidFill>
            <a:srgbClr val="206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000" b="1">
                <a:solidFill>
                  <a:srgbClr val="144E11"/>
                </a:solidFill>
                <a:latin typeface="Arial"/>
              </a:defRPr>
            </a:pPr>
            <a:r>
              <a:t>LeafLore: Personal Reading Journal</a:t>
            </a:r>
          </a:p>
          <a:p>
            <a:pPr>
              <a:spcBef>
                <a:spcPts val="1000"/>
              </a:spcBef>
              <a:defRPr sz="2000">
                <a:solidFill>
                  <a:srgbClr val="4A5749"/>
                </a:solidFill>
                <a:latin typeface="Arial"/>
              </a:defRPr>
            </a:pPr>
            <a:r>
              <a:t>Gamified Reading Tracker with ML Predictions &amp; PWA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731520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400" b="1">
                <a:solidFill>
                  <a:srgbClr val="206F19"/>
                </a:solidFill>
                <a:latin typeface="Arial"/>
              </a:defRPr>
            </a:pPr>
            <a:r>
              <a:t>Presenter: Arsha (MCA Sem 3)</a:t>
            </a:r>
          </a:p>
          <a:p>
            <a:pPr>
              <a:spcBef>
                <a:spcPts val="400"/>
              </a:spcBef>
              <a:defRPr sz="1300">
                <a:solidFill>
                  <a:srgbClr val="646464"/>
                </a:solidFill>
                <a:latin typeface="Arial"/>
              </a:defRPr>
            </a:pPr>
            <a:r>
              <a:t>Domain / Trends: Machine Learning, Data Analytics, &amp; PWA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B43232"/>
                </a:solidFill>
                <a:latin typeface="Arial"/>
              </a:defRPr>
            </a:pPr>
            <a:r>
              <a:t>Existing System (Problem Statement)</a:t>
            </a:r>
          </a:p>
          <a:p>
            <a:pPr>
              <a:lnSpc>
                <a:spcPct val="125000"/>
              </a:lnSpc>
              <a:spcBef>
                <a:spcPts val="1200"/>
              </a:spcBef>
              <a:defRPr sz="1350">
                <a:solidFill>
                  <a:srgbClr val="4A5749"/>
                </a:solidFill>
                <a:latin typeface="Arial"/>
              </a:defRPr>
            </a:pPr>
            <a:r>
              <a:t>- Unengaging Interfaces: Static text-based log lists cause low user engagement and reading habit drop-offs.</a:t>
            </a:r>
          </a:p>
          <a:p>
            <a:pPr>
              <a:lnSpc>
                <a:spcPct val="125000"/>
              </a:lnSpc>
              <a:spcBef>
                <a:spcPts val="1200"/>
              </a:spcBef>
              <a:defRPr sz="1350">
                <a:solidFill>
                  <a:srgbClr val="4A5749"/>
                </a:solidFill>
                <a:latin typeface="Arial"/>
              </a:defRPr>
            </a:pPr>
            <a:r>
              <a:t>- No Predictive Insights: Standard trackers only log history; they cannot calculate completion probabilities.</a:t>
            </a:r>
          </a:p>
          <a:p>
            <a:pPr>
              <a:lnSpc>
                <a:spcPct val="125000"/>
              </a:lnSpc>
              <a:spcBef>
                <a:spcPts val="1200"/>
              </a:spcBef>
              <a:defRPr sz="1350">
                <a:solidFill>
                  <a:srgbClr val="4A5749"/>
                </a:solidFill>
                <a:latin typeface="Arial"/>
              </a:defRPr>
            </a:pPr>
            <a:r>
              <a:t>- Internet Dependency: Applications freeze or lose data in network dead zones (e.g., during commutes).</a:t>
            </a:r>
          </a:p>
          <a:p>
            <a:pPr>
              <a:lnSpc>
                <a:spcPct val="125000"/>
              </a:lnSpc>
              <a:spcBef>
                <a:spcPts val="1200"/>
              </a:spcBef>
              <a:defRPr sz="1350">
                <a:solidFill>
                  <a:srgbClr val="4A5749"/>
                </a:solidFill>
                <a:latin typeface="Arial"/>
              </a:defRPr>
            </a:pPr>
            <a:r>
              <a:t>- Data Portability Barriers: Hard to reset, backup, or download reading history to a standard format.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73152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44E11"/>
                </a:solidFill>
                <a:latin typeface="Arial"/>
              </a:defRPr>
            </a:pPr>
            <a:r>
              <a:t>About the Project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200">
                <a:solidFill>
                  <a:srgbClr val="4A5749"/>
                </a:solidFill>
                <a:latin typeface="Arial"/>
              </a:defRPr>
            </a:pPr>
            <a:r>
              <a:t>- Gamified Growth: Integrates an interactive canvas that programmatically grows trees based on page stats.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200">
                <a:solidFill>
                  <a:srgbClr val="4A5749"/>
                </a:solidFill>
                <a:latin typeface="Arial"/>
              </a:defRPr>
            </a:pPr>
            <a:r>
              <a:t>- Analytical Forecasts: Implements Scikit-Learn Logistic Regression to predict completion likelihood.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200">
                <a:solidFill>
                  <a:srgbClr val="4A5749"/>
                </a:solidFill>
                <a:latin typeface="Arial"/>
              </a:defRPr>
            </a:pPr>
            <a:r>
              <a:t>- Offline IndexedDB Sync: Queues submissions offline and auto-replays logs when connectivity returns.</a:t>
            </a:r>
          </a:p>
          <a:p>
            <a:pPr>
              <a:spcBef>
                <a:spcPts val="2000"/>
              </a:spcBef>
              <a:spcAft>
                <a:spcPts val="1000"/>
              </a:spcAft>
              <a:defRPr sz="2000" b="1">
                <a:solidFill>
                  <a:srgbClr val="144E11"/>
                </a:solidFill>
                <a:latin typeface="Arial"/>
              </a:defRPr>
            </a:pPr>
            <a:r>
              <a:t>Technologies Used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200">
                <a:solidFill>
                  <a:srgbClr val="4A5749"/>
                </a:solidFill>
                <a:latin typeface="Arial"/>
              </a:defRPr>
            </a:pPr>
            <a:r>
              <a:t>- Backend &amp; Database: Python, Flask Framework, SQLAlchemy, SQLite &amp; PostgreSQL.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200">
                <a:solidFill>
                  <a:srgbClr val="4A5749"/>
                </a:solidFill>
                <a:latin typeface="Arial"/>
              </a:defRPr>
            </a:pPr>
            <a:r>
              <a:t>- Data Science &amp; ML: Scikit-Learn (Logistic Regression), Pandas, &amp; NumPy.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200">
                <a:solidFill>
                  <a:srgbClr val="4A5749"/>
                </a:solidFill>
                <a:latin typeface="Arial"/>
              </a:defRPr>
            </a:pPr>
            <a:r>
              <a:t>- Frontend &amp; PWA: HTML5 Canvas, Service Workers, CSS3 3D Transforms, &amp; IndexedDB.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